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F5F6FA"/>
                </a:solidFill>
                <a:latin typeface="Georgia"/>
              </a:rPr>
              <a:t>My</a:t>
            </a:r>
            <a:r>
              <a:rPr sz="7200" b="0" i="1">
                <a:solidFill>
                  <a:srgbClr val="2EE6A8"/>
                </a:solidFill>
                <a:latin typeface="Georgia"/>
              </a:rPr>
              <a:t>Jara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461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AA0AE"/>
                </a:solidFill>
                <a:latin typeface="Calibri"/>
              </a:rPr>
              <a:t>The marketplace where every extra is real — enforced, not just claimed.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977639"/>
            <a:ext cx="2340864" cy="384048"/>
          </a:xfrm>
          <a:prstGeom prst="roundRect">
            <a:avLst>
              <a:gd name="adj" fmla="val 6000"/>
            </a:avLst>
          </a:prstGeom>
          <a:solidFill>
            <a:srgbClr val="1B2222"/>
          </a:solidFill>
          <a:ln w="1270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950" b="1" i="0" spc="60">
                <a:solidFill>
                  <a:srgbClr val="2EE6A8"/>
                </a:solidFill>
                <a:latin typeface="Calibri"/>
              </a:rPr>
              <a:t>B2B2C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3977639"/>
            <a:ext cx="2340864" cy="384048"/>
          </a:xfrm>
          <a:prstGeom prst="roundRect">
            <a:avLst>
              <a:gd name="adj" fmla="val 6000"/>
            </a:avLst>
          </a:prstGeom>
          <a:solidFill>
            <a:srgbClr val="1B2222"/>
          </a:solidFill>
          <a:ln w="1270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950" b="1" i="0" spc="60">
                <a:solidFill>
                  <a:srgbClr val="2EE6A8"/>
                </a:solidFill>
                <a:latin typeface="Calibri"/>
              </a:rPr>
              <a:t>THE JARA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3977639"/>
            <a:ext cx="2578608" cy="384048"/>
          </a:xfrm>
          <a:prstGeom prst="roundRect">
            <a:avLst>
              <a:gd name="adj" fmla="val 6000"/>
            </a:avLst>
          </a:prstGeom>
          <a:solidFill>
            <a:srgbClr val="1B2222"/>
          </a:solidFill>
          <a:ln w="1270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950" b="1" i="0" spc="60">
                <a:solidFill>
                  <a:srgbClr val="2EE6A8"/>
                </a:solidFill>
                <a:latin typeface="Calibri"/>
              </a:rPr>
              <a:t>FLUTTERWAVE-POWERED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77656" y="3977639"/>
            <a:ext cx="1865376" cy="384048"/>
          </a:xfrm>
          <a:prstGeom prst="roundRect">
            <a:avLst>
              <a:gd name="adj" fmla="val 6000"/>
            </a:avLst>
          </a:prstGeom>
          <a:solidFill>
            <a:srgbClr val="1B2222"/>
          </a:solidFill>
          <a:ln w="1270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600"/>
              </a:spcAft>
            </a:pPr>
            <a:r>
              <a:rPr sz="950" b="1" i="0" spc="60">
                <a:solidFill>
                  <a:srgbClr val="2EE6A8"/>
                </a:solidFill>
                <a:latin typeface="Calibri"/>
              </a:rPr>
              <a:t>LIVE IN ABUJA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2A3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61081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Abuja, Nigeria  ·  myjara.com.ng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8932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Presented by: Isaac-Christ Ikpe, Damilola Thompson</a:t>
            </a:r>
          </a:p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180"/>
                </a:solidFill>
                <a:latin typeface="Calibri"/>
              </a:rPr>
              <a:t>17/07/2026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01 —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F5F6FA"/>
                </a:solidFill>
                <a:latin typeface="Georgia"/>
              </a:rPr>
              <a:t>What </a:t>
            </a:r>
            <a:r>
              <a:rPr sz="3400" b="0" i="0">
                <a:solidFill>
                  <a:srgbClr val="F5F6FA"/>
                </a:solidFill>
                <a:latin typeface="Georgia"/>
              </a:rPr>
              <a:t>is </a:t>
            </a:r>
            <a:r>
              <a:rPr sz="3400" b="0" i="1">
                <a:solidFill>
                  <a:srgbClr val="2EE6A8"/>
                </a:solidFill>
                <a:latin typeface="Georgia"/>
              </a:rPr>
              <a:t>MyJara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035040" cy="45720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EE6A8"/>
                </a:solidFill>
                <a:latin typeface="Calibri"/>
              </a:rPr>
              <a:t>MyJara</a:t>
            </a:r>
            <a:r>
              <a:rPr sz="1300" b="0" i="0">
                <a:solidFill>
                  <a:srgbClr val="F5F6FA"/>
                </a:solidFill>
                <a:latin typeface="Calibri"/>
              </a:rPr>
              <a:t> is a multi-tenant e-marketplace built around the traditional Nigerian concept of </a:t>
            </a:r>
            <a:r>
              <a:rPr sz="1300" b="0" i="1">
                <a:solidFill>
                  <a:srgbClr val="2EE6A8"/>
                </a:solidFill>
                <a:latin typeface="Calibri"/>
              </a:rPr>
              <a:t>jara</a:t>
            </a:r>
            <a:r>
              <a:rPr sz="1300" b="0" i="0">
                <a:solidFill>
                  <a:srgbClr val="F5F6FA"/>
                </a:solidFill>
                <a:latin typeface="Calibri"/>
              </a:rPr>
              <a:t> — the extra a trader gives after you've paid, as proof they value your custom.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5F6FA"/>
                </a:solidFill>
                <a:latin typeface="Calibri"/>
              </a:rPr>
              <a:t>On MyJara, jara isn't a marketing label. It's a structured field on every product — a real bonus quantity, or a substitute of equal value the seller chooses — computed straight into cart, checkout, and order totals. Our long-term goal: a governing system wholesalers and retailers operate inside, not a suggestion they can ignore.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5F6FA"/>
                </a:solidFill>
                <a:latin typeface="Calibri"/>
              </a:rPr>
              <a:t>MyJara pairs this jara backbone with real multi-format seller tooling (physical shops, online stores, market-day traders, wholesale brands), Flutterwave-powered payments, order management, and buyer-seller chat — built around how Nigerian commerce actually works, starting in Abuja.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9AA0AE"/>
                </a:solidFill>
                <a:latin typeface="Calibri"/>
              </a:rPr>
              <a:t>This isn't a concept deck: Phases 0–2 of the build — security hardening, categories, admin tooling, wholesaler dashboards, custom domains, differentiated pricing, onboarding, multi-location retail, and notifications — are already live. Phase 4's UI/UX pass is underway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91640"/>
            <a:ext cx="4343400" cy="2148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400" b="1" i="1">
                <a:solidFill>
                  <a:srgbClr val="2EE6A8"/>
                </a:solidFill>
                <a:latin typeface="Calibri"/>
              </a:rPr>
              <a:t>Our Vision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AA0AE"/>
                </a:solidFill>
                <a:latin typeface="Calibri"/>
              </a:rPr>
              <a:t>A marketplace ecosystem where African businesses of every size use technology to build stronger customer relationships and consistently deliver better value — redefining loyalty in the African digital economy.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977639"/>
            <a:ext cx="4343400" cy="228600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400" b="1" i="1">
                <a:solidFill>
                  <a:srgbClr val="2EE6A8"/>
                </a:solidFill>
                <a:latin typeface="Calibri"/>
              </a:rPr>
              <a:t>Our Mission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AA0AE"/>
                </a:solidFill>
                <a:latin typeface="Calibri"/>
              </a:rPr>
              <a:t>Give businesses the tools to attract, convert, and retain customers through a structured, governed Jara system — one where every seller commits to real added value and chooses the form it takes, instead of depending on ads and destructive discounting.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02 — MARKET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5F6FA"/>
                </a:solidFill>
                <a:latin typeface="Georgia"/>
              </a:rPr>
              <a:t>Why the </a:t>
            </a:r>
            <a:r>
              <a:rPr sz="3200" b="0" i="1">
                <a:solidFill>
                  <a:srgbClr val="2EE6A8"/>
                </a:solidFill>
                <a:latin typeface="Georgia"/>
              </a:rPr>
              <a:t>status quo</a:t>
            </a:r>
            <a:r>
              <a:rPr sz="3200" b="0" i="0">
                <a:solidFill>
                  <a:srgbClr val="F5F6FA"/>
                </a:solidFill>
                <a:latin typeface="Georgia"/>
              </a:rPr>
              <a:t> is breaking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Acquisition costs keep climbing.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E-commerce businesses are spending more than ever to acquire customers, with no sustainable way to keep them once the discounts stop and the ad budget runs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916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Small sellers can't out-spend anyone.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Small businesses and market-day traders can't sustain the continuous ad spend needed to stay visible online — the format that gave them a physical customer base has no digital equivalent.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Discounting is a race to the bottom.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Most online marketplaces run on discounts and advertising, forcing sellers into price wars just to stay found — margin disappears before loyalty ever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77639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“Extra value” claims aren't checkable.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Buyers have no way to verify a seller's “buy more, save more” or “free gift” claim — it's marketing copy with nothing enforced behind it, and nothing stops a seller from just not honoring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03 — WHAT WE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5F6FA"/>
                </a:solidFill>
                <a:latin typeface="Georgia"/>
              </a:rPr>
              <a:t>One platform, </a:t>
            </a:r>
            <a:r>
              <a:rPr sz="3200" b="0" i="1">
                <a:solidFill>
                  <a:srgbClr val="2EE6A8"/>
                </a:solidFill>
                <a:latin typeface="Georgia"/>
              </a:rPr>
              <a:t>six</a:t>
            </a:r>
            <a:r>
              <a:rPr sz="3200" b="0" i="0">
                <a:solidFill>
                  <a:srgbClr val="F5F6FA"/>
                </a:solidFill>
                <a:latin typeface="Georgia"/>
              </a:rPr>
              <a:t> real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Loyalty Engine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A digital marketplace built around customer loyalty and retention. Every purchase ties back to a jara record, not a coupon that expires when the campaign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916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Value Competition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Businesses compete on real value and customer experience, not price alone. Discounting a listing doesn't move it up in relevance — a verified jara offer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Payments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Integrated payment infrastructure powered by Flutterwave, covering card, transfer, and mobile money checkout with order status synced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Seller Formats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Four real seller formats — physical shop, online store, market-day trader, wholesaler/brand — each with its own dashboard, not a generic template retrofitted for every seller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The Jara Standard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A structured bonus-value field on every product. Sellers choose the form that value takes: more of the same item, or a named, described substitute of equal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Trust &amp; Safety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5F6FA"/>
                </a:solidFill>
                <a:latin typeface="Calibri"/>
              </a:rPr>
              <a:t>Verified stores and a real dispute pipeline. Trust enforced at the database level — row-level security on personal data, not a promise in the terms of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04 — WHY CHOOSE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5F6FA"/>
                </a:solidFill>
                <a:latin typeface="Georgia"/>
              </a:rPr>
              <a:t>Four things a generic </a:t>
            </a:r>
            <a:r>
              <a:rPr sz="3000" b="0" i="1">
                <a:solidFill>
                  <a:srgbClr val="2EE6A8"/>
                </a:solidFill>
                <a:latin typeface="Georgia"/>
              </a:rPr>
              <a:t>marketplace</a:t>
            </a:r>
            <a:r>
              <a:rPr sz="3000" b="0" i="0">
                <a:solidFill>
                  <a:srgbClr val="F5F6FA"/>
                </a:solidFill>
                <a:latin typeface="Georgia"/>
              </a:rPr>
              <a:t> can't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744200" cy="425196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E6A8"/>
                </a:solidFill>
                <a:latin typeface="Calibri"/>
              </a:rPr>
              <a:t>1.  </a:t>
            </a:r>
            <a:r>
              <a:rPr sz="1400" b="1" i="0">
                <a:solidFill>
                  <a:srgbClr val="F5F6FA"/>
                </a:solidFill>
                <a:latin typeface="Calibri"/>
              </a:rPr>
              <a:t>Jara, governed — not a marketing word.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9AA0AE"/>
                </a:solidFill>
                <a:latin typeface="Calibri"/>
              </a:rPr>
              <a:t>Every product carries a structured bonus-value field; the roadmap turns that from optional into verified, starting with high-value categories like phones.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E6A8"/>
                </a:solidFill>
                <a:latin typeface="Calibri"/>
              </a:rPr>
              <a:t>2.  </a:t>
            </a:r>
            <a:r>
              <a:rPr sz="1400" b="1" i="0">
                <a:solidFill>
                  <a:srgbClr val="F5F6FA"/>
                </a:solidFill>
                <a:latin typeface="Calibri"/>
              </a:rPr>
              <a:t>Built for how Nigerian commerce actually works.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9AA0AE"/>
                </a:solidFill>
                <a:latin typeface="Calibri"/>
              </a:rPr>
              <a:t>Physical shops, online stores, market-day traders, and wholesale brands each get a real dashboard — not one generic template stretched across every seller type.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E6A8"/>
                </a:solidFill>
                <a:latin typeface="Calibri"/>
              </a:rPr>
              <a:t>3.  </a:t>
            </a:r>
            <a:r>
              <a:rPr sz="1400" b="1" i="0">
                <a:solidFill>
                  <a:srgbClr val="F5F6FA"/>
                </a:solidFill>
                <a:latin typeface="Calibri"/>
              </a:rPr>
              <a:t>Trust enforced in the schema.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9AA0AE"/>
                </a:solidFill>
                <a:latin typeface="Calibri"/>
              </a:rPr>
              <a:t>Every store is verified before going live, disputes run through a real resolution pipeline, and personal data is locked down by row-level security — not a badge and a promise.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E6A8"/>
                </a:solidFill>
                <a:latin typeface="Calibri"/>
              </a:rPr>
              <a:t>4.  </a:t>
            </a:r>
            <a:r>
              <a:rPr sz="1400" b="1" i="0">
                <a:solidFill>
                  <a:srgbClr val="F5F6FA"/>
                </a:solidFill>
                <a:latin typeface="Calibri"/>
              </a:rPr>
              <a:t>Local by design.</a:t>
            </a:r>
          </a:p>
          <a:p>
            <a:pPr algn="l">
              <a:spcAft>
                <a:spcPts val="1200"/>
              </a:spcAft>
            </a:pPr>
            <a:r>
              <a:rPr sz="1250" b="0" i="0">
                <a:solidFill>
                  <a:srgbClr val="9AA0AE"/>
                </a:solidFill>
                <a:latin typeface="Calibri"/>
              </a:rPr>
              <a:t>Launching market by market across Abuja's own local government areas — AMAC, Bwari, Gwagwalada, Kuje, Abaji, Kwali — not a generic national listing nobody moderates.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05 — THE JARA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F5F6FA"/>
                </a:solidFill>
                <a:latin typeface="Georgia"/>
              </a:rPr>
              <a:t>The mechanic — and the </a:t>
            </a:r>
            <a:r>
              <a:rPr sz="2800" b="0" i="1">
                <a:solidFill>
                  <a:srgbClr val="2EE6A8"/>
                </a:solidFill>
                <a:latin typeface="Georgia"/>
              </a:rPr>
              <a:t>business model</a:t>
            </a:r>
            <a:r>
              <a:rPr sz="2800" b="0" i="0">
                <a:solidFill>
                  <a:srgbClr val="F5F6FA"/>
                </a:solidFill>
                <a:latin typeface="Georgia"/>
              </a:rPr>
              <a:t>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1000"/>
              </a:spcAft>
            </a:pPr>
            <a:r>
              <a:rPr sz="1300" b="1" i="1">
                <a:solidFill>
                  <a:srgbClr val="2EE6A8"/>
                </a:solidFill>
                <a:latin typeface="Calibri"/>
              </a:rPr>
              <a:t>How it works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2EE6A8"/>
                </a:solidFill>
                <a:latin typeface="Calibri"/>
              </a:rPr>
              <a:t>LIVE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A structured jara field on every product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A buy-X-get-Y bonus quantity, computed directly into cart, checkout, and order totals — not a promotional label a seller writes and nobody confirms.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2EE6A8"/>
                </a:solidFill>
                <a:latin typeface="Calibri"/>
              </a:rPr>
              <a:t>LIVE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Sellers already choose the value type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More of the same product, or a named, described, imaged substitute item of equivalent value — the seller's choice, the platform's record.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E8C468"/>
                </a:solidFill>
                <a:latin typeface="Calibri"/>
              </a:rPr>
              <a:t>NEXT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Jara becomes a requirement, not a default of zero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Today a listing can go live with no jara at all. Governance ties jara presence into the same store/listing verification queue that already gates a store going live.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E8C468"/>
                </a:solidFill>
                <a:latin typeface="Calibri"/>
              </a:rPr>
              <a:t>NEXT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Equivalence checked, not self-reported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Defining what counts as an equivalent substitute for high-value categories like phones, so “extra value” can't be a token gesture.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91640"/>
            <a:ext cx="5468112" cy="4434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1000"/>
              </a:spcAft>
            </a:pPr>
            <a:r>
              <a:rPr sz="1300" b="1" i="1">
                <a:solidFill>
                  <a:srgbClr val="2EE6A8"/>
                </a:solidFill>
                <a:latin typeface="Calibri"/>
              </a:rPr>
              <a:t>How it monetizes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2EE6A8"/>
                </a:solidFill>
                <a:latin typeface="Calibri"/>
              </a:rPr>
              <a:t>LIVE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Seller subscriptions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Admin-editable pricing per shop type — physical shop, online store, market trader, wholesaler/brand — live today via the admin pricing panel.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E8C468"/>
                </a:solidFill>
                <a:latin typeface="Calibri"/>
              </a:rPr>
              <a:t>NEXT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Per-conversion wholesaler billing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Replacing flat tiers with pay-per-completed-sale for wholesale brands — the next monetization layer, currently blocked on final billing mechanics.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E8C468"/>
                </a:solidFill>
                <a:latin typeface="Calibri"/>
              </a:rPr>
              <a:t>NEXT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Seller-funded ads platform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Paid visibility inside the marketplace — funding the review and enforcement work the Jara Standard needs to stay credible.</a:t>
            </a:r>
          </a:p>
          <a:p>
            <a:pPr algn="l">
              <a:spcAft>
                <a:spcPts val="300"/>
              </a:spcAft>
            </a:pPr>
            <a:r>
              <a:rPr sz="1050" b="1" i="0" spc="60">
                <a:solidFill>
                  <a:srgbClr val="E8C468"/>
                </a:solidFill>
                <a:latin typeface="Calibri"/>
              </a:rPr>
              <a:t>NEXT  </a:t>
            </a:r>
            <a:r>
              <a:rPr sz="1300" b="1" i="0">
                <a:solidFill>
                  <a:srgbClr val="F5F6FA"/>
                </a:solidFill>
                <a:latin typeface="Calibri"/>
              </a:rPr>
              <a:t>Premium buyer tier</a:t>
            </a:r>
          </a:p>
          <a:p>
            <a:pPr algn="l">
              <a:spcAft>
                <a:spcPts val="13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A paid layer for buyers who want priority access to verified-jara offers and early listings.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06 — 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F5F6FA"/>
                </a:solidFill>
                <a:latin typeface="Georgia"/>
              </a:rPr>
              <a:t>The people </a:t>
            </a:r>
            <a:r>
              <a:rPr sz="3400" b="0" i="1">
                <a:solidFill>
                  <a:srgbClr val="2EE6A8"/>
                </a:solidFill>
                <a:latin typeface="Georgia"/>
              </a:rPr>
              <a:t>building</a:t>
            </a:r>
            <a:r>
              <a:rPr sz="3400" b="0" i="0">
                <a:solidFill>
                  <a:srgbClr val="F5F6FA"/>
                </a:solidFill>
                <a:latin typeface="Georgia"/>
              </a:rPr>
              <a:t> MyJara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5F6FA"/>
                </a:solidFill>
                <a:latin typeface="Calibri"/>
              </a:rPr>
              <a:t>Isaac-Christ Ikpe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E8C468"/>
                </a:solidFill>
                <a:latin typeface="Calibri"/>
              </a:rPr>
              <a:t>Role — confirm before sharing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5F6FA"/>
                </a:solidFill>
                <a:latin typeface="Calibri"/>
              </a:rPr>
              <a:t>Damilola Thompson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E8C468"/>
                </a:solidFill>
                <a:latin typeface="Calibri"/>
              </a:rPr>
              <a:t>Role — confirm before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920240"/>
            <a:ext cx="3108960" cy="32918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300" b="1" i="1">
                <a:solidFill>
                  <a:srgbClr val="2EE6A8"/>
                </a:solidFill>
                <a:latin typeface="Calibri"/>
              </a:rPr>
              <a:t>Hiring priorities</a:t>
            </a:r>
            <a:r>
              <a:rPr sz="1050" b="0" i="0">
                <a:solidFill>
                  <a:srgbClr val="9AA0AE"/>
                </a:solidFill>
                <a:latin typeface="Calibri"/>
              </a:rPr>
              <a:t>Engineering — jara verification enforcement and per-conversion wholesaler billing.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050" b="0" i="0">
                <a:solidFill>
                  <a:srgbClr val="9AA0AE"/>
                </a:solidFill>
                <a:latin typeface="Calibri"/>
              </a:rPr>
              <a:t>Growth — market-by-market rollout across Abuja's LGAs.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050" b="0" i="0">
                <a:solidFill>
                  <a:srgbClr val="9AA0AE"/>
                </a:solidFill>
                <a:latin typeface="Calibri"/>
              </a:rPr>
              <a:t>Design — completing the Phase 4 UI/UX and admin panel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180"/>
                </a:solidFill>
                <a:latin typeface="Calibri"/>
              </a:rPr>
              <a:t>Add any additional co-founders, advisors, or key hires before this deck goes external.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07 —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F5F6FA"/>
                </a:solidFill>
                <a:latin typeface="Georgia"/>
              </a:rPr>
              <a:t>What </a:t>
            </a:r>
            <a:r>
              <a:rPr sz="3400" b="0" i="1">
                <a:solidFill>
                  <a:srgbClr val="2EE6A8"/>
                </a:solidFill>
                <a:latin typeface="Georgia"/>
              </a:rPr>
              <a:t>raising now</a:t>
            </a:r>
            <a:r>
              <a:rPr sz="3400" b="0" i="0">
                <a:solidFill>
                  <a:srgbClr val="F5F6FA"/>
                </a:solidFill>
                <a:latin typeface="Georgia"/>
              </a:rPr>
              <a:t>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EE6A8"/>
                </a:solidFill>
                <a:latin typeface="Calibri"/>
              </a:rPr>
              <a:t>What's already built: </a:t>
            </a:r>
            <a:r>
              <a:rPr sz="1200" b="0" i="0">
                <a:solidFill>
                  <a:srgbClr val="9AA0AE"/>
                </a:solidFill>
                <a:latin typeface="Calibri"/>
              </a:rPr>
              <a:t>Phases 0–2 — security/RLS hardening, categories, admin tooling, wholesaler dashboards, custom domains, differentiated pricing, onboarding, multi-location retail, and notifications — are live. Phase 4's UI/UX pass is underway.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5F6FA"/>
                </a:solidFill>
                <a:latin typeface="Calibri"/>
              </a:rPr>
              <a:t>We're raising to move The Jara Standard, wholesaler monetization, and the Abuja rollout from built to scaled: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250" b="0" i="0">
                <a:solidFill>
                  <a:srgbClr val="9AA0AE"/>
                </a:solidFill>
                <a:latin typeface="Calibri"/>
              </a:rPr>
              <a:t>Engineering: ship jara verification enforcement and per-conversion wholesaler billing.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250" b="0" i="0">
                <a:solidFill>
                  <a:srgbClr val="9AA0AE"/>
                </a:solidFill>
                <a:latin typeface="Calibri"/>
              </a:rPr>
              <a:t>Growth: market-by-market rollout across Abuja's LGAs (AMAC, Bwari, Gwagwalada, Kuje, Abaji, Kwali).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◆"/>
            </a:pPr>
            <a:r>
              <a:rPr sz="1250" b="0" i="0">
                <a:solidFill>
                  <a:srgbClr val="9AA0AE"/>
                </a:solidFill>
                <a:latin typeface="Calibri"/>
              </a:rPr>
              <a:t>Platform: launch the ads platform and a premium buyer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73736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Raise amount &amp;</a:t>
            </a:r>
          </a:p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F5F6FA"/>
                </a:solidFill>
                <a:latin typeface="Calibri"/>
              </a:rPr>
              <a:t>use-of-funds split</a:t>
            </a:r>
          </a:p>
          <a:p>
            <a:pPr algn="ctr">
              <a:spcAft>
                <a:spcPts val="1000"/>
              </a:spcAft>
            </a:pPr>
            <a:r>
              <a:rPr sz="1300" b="0" i="1">
                <a:solidFill>
                  <a:srgbClr val="E8C468"/>
                </a:solidFill>
                <a:latin typeface="Calibri"/>
              </a:rPr>
              <a:t>Confirm before sharing</a:t>
            </a:r>
          </a:p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6B7180"/>
                </a:solidFill>
                <a:latin typeface="Calibri"/>
              </a:rPr>
              <a:t>Detailed use-of-funds breakdown available on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40">
                <a:solidFill>
                  <a:srgbClr val="2EE6A8"/>
                </a:solidFill>
                <a:latin typeface="Calibri"/>
              </a:rPr>
              <a:t>08 —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5F6FA"/>
                </a:solidFill>
                <a:latin typeface="Georgia"/>
              </a:rPr>
              <a:t>Four </a:t>
            </a:r>
            <a:r>
              <a:rPr sz="3200" b="0" i="1">
                <a:solidFill>
                  <a:srgbClr val="2EE6A8"/>
                </a:solidFill>
                <a:latin typeface="Georgia"/>
              </a:rPr>
              <a:t>milestones</a:t>
            </a:r>
            <a:r>
              <a:rPr sz="3200" b="0" i="0">
                <a:solidFill>
                  <a:srgbClr val="F5F6FA"/>
                </a:solidFill>
                <a:latin typeface="Georgia"/>
              </a:rPr>
              <a:t>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9AA0AE"/>
                </a:solidFill>
                <a:latin typeface="Calibri"/>
              </a:rPr>
              <a:t>17/07/2026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5F6FA"/>
                </a:solidFill>
                <a:latin typeface="Calibri"/>
              </a:rPr>
              <a:t>Launching advanced vendor analytics and customer-retention insights to help businesses optimize conversion and repeat purchases.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73736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5F6FA"/>
                </a:solidFill>
                <a:latin typeface="Calibri"/>
              </a:rPr>
              <a:t>The Jara Standard, enforced — requiring verified jara at listing/store approval, with checkable equivalence for substitute-value offers.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5F6FA"/>
                </a:solidFill>
                <a:latin typeface="Calibri"/>
              </a:rPr>
              <a:t>Per-conversion wholesaler billing — replacing flat subscription tiers with pay-per-completed-sale.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393192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1F232B"/>
          </a:solidFill>
          <a:ln w="12700">
            <a:solidFill>
              <a:srgbClr val="2A3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F5F6FA"/>
                </a:solidFill>
                <a:latin typeface="Calibri"/>
              </a:rPr>
              <a:t>Ads platform and a premium buyer tier — paid visibility for sellers, and a paid value layer for buyers.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myjara.com.ng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7180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0" i="1">
                <a:solidFill>
                  <a:srgbClr val="2EE6A8"/>
                </a:solidFill>
                <a:latin typeface="Georgia"/>
              </a:rPr>
              <a:t>Thank </a:t>
            </a:r>
            <a:r>
              <a:rPr sz="6000" b="0" i="0">
                <a:solidFill>
                  <a:srgbClr val="F5F6FA"/>
                </a:solidFill>
                <a:latin typeface="Georgia"/>
              </a:rPr>
              <a:t>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2A3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61081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myjara.com.ng  ·  Abuja → Nigeria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98932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9AA0AE"/>
                </a:solidFill>
                <a:latin typeface="Calibri"/>
              </a:rPr>
              <a:t>Presented by: Isaac-Christ Ikpe, Damilola Thompson</a:t>
            </a:r>
          </a:p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180"/>
                </a:solidFill>
                <a:latin typeface="Calibri"/>
              </a:rPr>
              <a:t>17/07/2026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